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2303F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22303F"/>
                </a:solidFill>
                <a:latin typeface="Calibri"/>
              </a:rPr>
              <a:t>Monthly revenue (M),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10.1</c:v>
                </c:pt>
                <c:pt idx="1">
                  <c:v>11.51</c:v>
                </c:pt>
                <c:pt idx="2">
                  <c:v>13.06</c:v>
                </c:pt>
                <c:pt idx="3">
                  <c:v>12.22</c:v>
                </c:pt>
                <c:pt idx="4">
                  <c:v>10.98</c:v>
                </c:pt>
                <c:pt idx="5">
                  <c:v>12.91</c:v>
                </c:pt>
                <c:pt idx="6">
                  <c:v>11.75</c:v>
                </c:pt>
                <c:pt idx="7">
                  <c:v>9.45</c:v>
                </c:pt>
                <c:pt idx="8">
                  <c:v>9.18</c:v>
                </c:pt>
                <c:pt idx="9">
                  <c:v>12.5</c:v>
                </c:pt>
                <c:pt idx="10">
                  <c:v>12.63</c:v>
                </c:pt>
                <c:pt idx="11">
                  <c:v>12.3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6"/>
        </c:scaling>
        <c:delete val="0"/>
        <c:axPos val="l"/>
        <c:majorGridlines>
          <c:spPr>
            <a:ln w="6350" cap="flat">
              <a:solidFill>
                <a:srgbClr val="E6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2303F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22303F"/>
                </a:solidFill>
                <a:latin typeface="Calibri"/>
              </a:rPr>
              <a:t>Revenue by category (M)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Grocery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50.8</c:v>
                </c:pt>
                <c:pt idx="1">
                  <c:v>25</c:v>
                </c:pt>
                <c:pt idx="2">
                  <c:v>22.2</c:v>
                </c:pt>
                <c:pt idx="3">
                  <c:v>21.5</c:v>
                </c:pt>
                <c:pt idx="4">
                  <c:v>19.8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2303F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22303F"/>
                </a:solidFill>
                <a:latin typeface="Calibri"/>
              </a:rPr>
              <a:t>Revenue by city (M)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19.3</c:v>
                </c:pt>
                <c:pt idx="1">
                  <c:v>18.9</c:v>
                </c:pt>
                <c:pt idx="2">
                  <c:v>18.8</c:v>
                </c:pt>
                <c:pt idx="3">
                  <c:v>18.8</c:v>
                </c:pt>
                <c:pt idx="4">
                  <c:v>17.2</c:v>
                </c:pt>
                <c:pt idx="5">
                  <c:v>16.1</c:v>
                </c:pt>
                <c:pt idx="6">
                  <c:v>14.5</c:v>
                </c:pt>
                <c:pt idx="7">
                  <c:v>14.4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(mock-up)</a:t>
            </a:r>
            <a:endParaRPr lang="en-US" sz="1800" dirty="0"/>
          </a:p>
        </p:txBody>
      </p:sp>
      <p:sp>
        <p:nvSpPr>
          <p:cNvPr id="4" name="Filter Period: All data"/>
          <p:cNvSpPr/>
          <p:nvPr/>
        </p:nvSpPr>
        <p:spPr>
          <a:xfrm>
            <a:off x="5074920" y="13716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F5380"/>
          </a:solidFill>
          <a:ln w="9525">
            <a:solidFill>
              <a:srgbClr val="5A82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74920" y="137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All data</a:t>
            </a:r>
            <a:endParaRPr lang="en-US" sz="800" dirty="0"/>
          </a:p>
        </p:txBody>
      </p:sp>
      <p:sp>
        <p:nvSpPr>
          <p:cNvPr id="6" name="Filter City: All"/>
          <p:cNvSpPr/>
          <p:nvPr/>
        </p:nvSpPr>
        <p:spPr>
          <a:xfrm>
            <a:off x="6080760" y="13716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F5380"/>
          </a:solidFill>
          <a:ln w="9525">
            <a:solidFill>
              <a:srgbClr val="5A82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80760" y="137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All</a:t>
            </a:r>
            <a:endParaRPr lang="en-US" sz="800" dirty="0"/>
          </a:p>
        </p:txBody>
      </p:sp>
      <p:sp>
        <p:nvSpPr>
          <p:cNvPr id="8" name="Filter Category: All"/>
          <p:cNvSpPr/>
          <p:nvPr/>
        </p:nvSpPr>
        <p:spPr>
          <a:xfrm>
            <a:off x="7086600" y="13716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F5380"/>
          </a:solidFill>
          <a:ln w="9525">
            <a:solidFill>
              <a:srgbClr val="5A82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137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All</a:t>
            </a:r>
            <a:endParaRPr lang="en-US" sz="800" dirty="0"/>
          </a:p>
        </p:txBody>
      </p:sp>
      <p:sp>
        <p:nvSpPr>
          <p:cNvPr id="10" name="Filter Age group: All"/>
          <p:cNvSpPr/>
          <p:nvPr/>
        </p:nvSpPr>
        <p:spPr>
          <a:xfrm>
            <a:off x="8092440" y="13716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F5380"/>
          </a:solidFill>
          <a:ln w="9525">
            <a:solidFill>
              <a:srgbClr val="5A82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137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 All</a:t>
            </a:r>
            <a:endParaRPr lang="en-US" sz="800" dirty="0"/>
          </a:p>
        </p:txBody>
      </p:sp>
      <p:sp>
        <p:nvSpPr>
          <p:cNvPr id="12" name="KPI card Total revenue"/>
          <p:cNvSpPr/>
          <p:nvPr/>
        </p:nvSpPr>
        <p:spPr>
          <a:xfrm>
            <a:off x="365760" y="749808"/>
            <a:ext cx="13441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13" name="KPI accent"/>
          <p:cNvSpPr/>
          <p:nvPr/>
        </p:nvSpPr>
        <p:spPr>
          <a:xfrm>
            <a:off x="365760" y="749808"/>
            <a:ext cx="4572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804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10058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139.4 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13716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orders</a:t>
            </a:r>
            <a:endParaRPr lang="en-US" sz="800" dirty="0"/>
          </a:p>
        </p:txBody>
      </p:sp>
      <p:sp>
        <p:nvSpPr>
          <p:cNvPr id="17" name="KPI card Orders"/>
          <p:cNvSpPr/>
          <p:nvPr/>
        </p:nvSpPr>
        <p:spPr>
          <a:xfrm>
            <a:off x="1801368" y="749808"/>
            <a:ext cx="13441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18" name="KPI accent"/>
          <p:cNvSpPr/>
          <p:nvPr/>
        </p:nvSpPr>
        <p:spPr>
          <a:xfrm>
            <a:off x="1801368" y="749808"/>
            <a:ext cx="4572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38528" y="804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938528" y="10058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938528" y="13716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per day</a:t>
            </a:r>
            <a:endParaRPr lang="en-US" sz="800" dirty="0"/>
          </a:p>
        </p:txBody>
      </p:sp>
      <p:sp>
        <p:nvSpPr>
          <p:cNvPr id="22" name="KPI card Avg order value"/>
          <p:cNvSpPr/>
          <p:nvPr/>
        </p:nvSpPr>
        <p:spPr>
          <a:xfrm>
            <a:off x="3236976" y="749808"/>
            <a:ext cx="13441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23" name="KPI accent"/>
          <p:cNvSpPr/>
          <p:nvPr/>
        </p:nvSpPr>
        <p:spPr>
          <a:xfrm>
            <a:off x="3236976" y="749808"/>
            <a:ext cx="4572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74136" y="804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374136" y="10058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139.4 K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374136" y="13716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108.6 K</a:t>
            </a:r>
            <a:endParaRPr lang="en-US" sz="800" dirty="0"/>
          </a:p>
        </p:txBody>
      </p:sp>
      <p:sp>
        <p:nvSpPr>
          <p:cNvPr id="27" name="KPI card MoM revenue growth"/>
          <p:cNvSpPr/>
          <p:nvPr/>
        </p:nvSpPr>
        <p:spPr>
          <a:xfrm>
            <a:off x="4672584" y="749808"/>
            <a:ext cx="13441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28" name="KPI accent"/>
          <p:cNvSpPr/>
          <p:nvPr/>
        </p:nvSpPr>
        <p:spPr>
          <a:xfrm>
            <a:off x="4672584" y="749808"/>
            <a:ext cx="45720" cy="8686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9744" y="804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revenue growth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809744" y="10058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809744" y="13716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vs Nov</a:t>
            </a:r>
            <a:endParaRPr lang="en-US" sz="800" dirty="0"/>
          </a:p>
        </p:txBody>
      </p:sp>
      <p:sp>
        <p:nvSpPr>
          <p:cNvPr id="32" name="KPI card Top category share"/>
          <p:cNvSpPr/>
          <p:nvPr/>
        </p:nvSpPr>
        <p:spPr>
          <a:xfrm>
            <a:off x="6108192" y="749808"/>
            <a:ext cx="13441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33" name="KPI accent"/>
          <p:cNvSpPr/>
          <p:nvPr/>
        </p:nvSpPr>
        <p:spPr>
          <a:xfrm>
            <a:off x="6108192" y="749808"/>
            <a:ext cx="4572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45352" y="804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share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245352" y="10058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245352" y="13716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800" dirty="0"/>
          </a:p>
        </p:txBody>
      </p:sp>
      <p:sp>
        <p:nvSpPr>
          <p:cNvPr id="37" name="KPI card Top 10% orders share"/>
          <p:cNvSpPr/>
          <p:nvPr/>
        </p:nvSpPr>
        <p:spPr>
          <a:xfrm>
            <a:off x="7543800" y="749808"/>
            <a:ext cx="13441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38" name="KPI accent"/>
          <p:cNvSpPr/>
          <p:nvPr/>
        </p:nvSpPr>
        <p:spPr>
          <a:xfrm>
            <a:off x="7543800" y="749808"/>
            <a:ext cx="4572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0" y="8046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orders share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680960" y="10058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7680960" y="137160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800" dirty="0"/>
          </a:p>
        </p:txBody>
      </p:sp>
      <p:sp>
        <p:nvSpPr>
          <p:cNvPr id="42" name="Panel monthly"/>
          <p:cNvSpPr/>
          <p:nvPr/>
        </p:nvSpPr>
        <p:spPr>
          <a:xfrm>
            <a:off x="365760" y="1783080"/>
            <a:ext cx="41605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43" name="Panel category"/>
          <p:cNvSpPr/>
          <p:nvPr/>
        </p:nvSpPr>
        <p:spPr>
          <a:xfrm>
            <a:off x="4617720" y="1783080"/>
            <a:ext cx="2057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sp>
        <p:nvSpPr>
          <p:cNvPr id="44" name="Panel city"/>
          <p:cNvSpPr/>
          <p:nvPr/>
        </p:nvSpPr>
        <p:spPr>
          <a:xfrm>
            <a:off x="6766560" y="178308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5"/>
            </a:solidFill>
            <a:prstDash val="solid"/>
          </a:ln>
        </p:spPr>
      </p:sp>
      <p:graphicFrame>
        <p:nvGraphicFramePr>
          <p:cNvPr id="45" name="Chart 0" descr=""/>
          <p:cNvGraphicFramePr/>
          <p:nvPr/>
        </p:nvGraphicFramePr>
        <p:xfrm>
          <a:off x="457200" y="1828800"/>
          <a:ext cx="3977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6" name="Chart 1" descr=""/>
          <p:cNvGraphicFramePr/>
          <p:nvPr/>
        </p:nvGraphicFramePr>
        <p:xfrm>
          <a:off x="4663440" y="1828800"/>
          <a:ext cx="1965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7" name="Chart 2" descr=""/>
          <p:cNvGraphicFramePr/>
          <p:nvPr/>
        </p:nvGraphicFramePr>
        <p:xfrm>
          <a:off x="6812280" y="1828800"/>
          <a:ext cx="1920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8" name="Text 43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mock-up based on the cleaned Task 1 dataset. Values are real; filters are illustrative. Monthly chart omits 1 Jan 2026 (5 orders). Interactive version: Task 3.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Mock-up</dc:title>
  <dc:subject>PptxGenJS Presentation</dc:subject>
  <dc:creator>Mahesh R</dc:creator>
  <cp:lastModifiedBy>Mahesh R</cp:lastModifiedBy>
  <cp:revision>1</cp:revision>
  <dcterms:created xsi:type="dcterms:W3CDTF">2026-10-22T04:48:43Z</dcterms:created>
  <dcterms:modified xsi:type="dcterms:W3CDTF">2026-10-22T04:48:43Z</dcterms:modified>
</cp:coreProperties>
</file>